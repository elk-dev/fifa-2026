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🏆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291840" y="731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2026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91840" y="14630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91840" y="2834640"/>
            <a:ext cx="5303520" cy="36576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30175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Regression  ·  Monte Carlo Simulation  ·  Cloud-Native Pipeline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Elkin Huertas  |  University of Miami  |  CSC 642/542  |  April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438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github.com/Elk-dev/FIFA-2026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the 2026 FIFA World Cup?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544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Teams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expanded format — 12 groups, new bracket dynamics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0175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📺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5B+ Viewers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29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watched sporting event on the planet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46304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5544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2356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Approach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2356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scorelines via Poisson, not just Win/Draw/Loss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0175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2356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Pipeline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3429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GCS + GitHub Actions — production-grade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8,210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05840"/>
            <a:ext cx="54864" cy="109728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09728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97480" y="16642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Results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54864" cy="109728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9728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00600" y="16642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00584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005840"/>
            <a:ext cx="54864" cy="10972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09728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03720" y="16642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Nations Covered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player_data.csv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xG, xA, xG Chain, Key Passes, minutes — Top 5 European Leagues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Understat / StatsBomb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major_int_tournaments.csv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results 2019–2025 across 14 competitions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football-data.co.uk / Kaggle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 Google Cloud Storage bucket provisioned via Terraform. Local data/ folder serves as fallback.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GCS + GitHub Actions — keyless authentication via Workload Identity Federation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658368"/>
          </a:xfrm>
          <a:prstGeom prst="rect">
            <a:avLst/>
          </a:prstGeom>
          <a:solidFill>
            <a:srgbClr val="1A2E42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Bucket  ·  player_data.csv  ·  major_int_tournaments.csv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984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658368"/>
          </a:xfrm>
          <a:prstGeom prst="rect">
            <a:avLst/>
          </a:prstGeom>
          <a:solidFill>
            <a:srgbClr val="1A2E42"/>
          </a:solidFill>
          <a:ln w="19050">
            <a:solidFill>
              <a:srgbClr val="F264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48840"/>
            <a:ext cx="54864" cy="658368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450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00_etl_pipeline.R  →  GCS pull with local fallback  →  Schema 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8072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8412480" cy="658368"/>
          </a:xfrm>
          <a:prstGeom prst="rect">
            <a:avLst/>
          </a:prstGeom>
          <a:solidFill>
            <a:srgbClr val="1A2E42"/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71800"/>
            <a:ext cx="54864" cy="658368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2735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→  Poisson Regression  →  Rolling CV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36301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8412480" cy="658368"/>
          </a:xfrm>
          <a:prstGeom prst="rect">
            <a:avLst/>
          </a:prstGeom>
          <a:solidFill>
            <a:srgbClr val="1A2E42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94760"/>
            <a:ext cx="54864" cy="6583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(500x)  →  Full 48-team bracket  →  Champion probabilities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 Matters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ML projects are notebooks on a laptop — this one is built like a real data product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4C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114800" cy="36576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|  Infrastructure as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GCS bucket + IAM provisioned with 3 commands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→ terraform plan → terraform apply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recreate this environment from scratch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infrastructure — no manual console clicks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4114800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 |  Google Cloud Storage — Data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7830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separated from code — fundamental data engineering principle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enabled — 3 versions retained per object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access enforced off — no accidental exposure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pulls data at runtime, not from repo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641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46120"/>
            <a:ext cx="4114800" cy="36576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  |  Workload Identity Federation — Keyless Auth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JSON keys, no secrets in the repo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authenticates via OIDC tokens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recommended pattern over service account keys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used in enterprise CI/CD pipelines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246120"/>
            <a:ext cx="4114800" cy="3657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 |  GitHub Actions — Automated Pipeline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reruns automatically on every push to src/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— same results every time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 timeout — production safety practice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— add full model rerun + figure commit in future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 Definitions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sourced from Understat — a leading expected goals platform for European football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822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7830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 shot results in a goal based on location, angle, and shot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14600"/>
            <a:ext cx="822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146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Assists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9260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value of the shot assisted by a given pass — measures chance creation quality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57600"/>
            <a:ext cx="822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576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Chain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03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xG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0690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from all possessions a player is involved in — captures indirect contributions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71600"/>
            <a:ext cx="822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3716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Buildup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1417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Off-ball xG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17830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from possessions excluding the shot and assist — measures buildup involvement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51460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514600"/>
            <a:ext cx="822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5146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Passes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Creation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29260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that directly lead to a shot on goal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65760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657600"/>
            <a:ext cx="822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6576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3703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Strength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7840" y="40690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rating updated after each match using the Elo system (Elo, 1978)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Match-Level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Distribution (511 matches)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353312"/>
            <a:ext cx="162397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2774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2084832"/>
            <a:ext cx="1031443" cy="27432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0243" y="2057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Win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2816352"/>
            <a:ext cx="1002182" cy="27432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0982" y="2788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27.4%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280160"/>
            <a:ext cx="54864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371600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83480" y="1883664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goals per match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28016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280160"/>
            <a:ext cx="54864" cy="100584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371600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95160" y="1883664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home goals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56032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560320"/>
            <a:ext cx="54864" cy="100584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651760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983480" y="3163824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away goals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256032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2560320"/>
            <a:ext cx="54864" cy="100584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651760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95160" y="3163824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goals in a match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 is significant — home teams win 44.4% of matches vs 27.4% for away teams.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&amp; Squad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8,210 player records across 42 qualified nations — aggregated from Europe's Top 5 Leagues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Nations — Squad xG per 90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1682496"/>
            <a:ext cx="2618509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7581" y="1645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214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2157984"/>
            <a:ext cx="2473036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92108" y="2121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5968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2633472"/>
            <a:ext cx="2327564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6636" y="25968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0723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0" y="3108960"/>
            <a:ext cx="2182091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1163" y="30723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0" y="3584448"/>
            <a:ext cx="2036618" cy="256032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55690" y="3547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4059936"/>
            <a:ext cx="1891145" cy="256032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0217" y="4023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Highlights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645920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↔ Goals/90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920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1920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304288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2350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↔ Shots/90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2578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2578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62656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3008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 ↔ Key Passes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236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3236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621024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92040" y="3666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Buildup ↔ xG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895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3895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Poisson Regression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Poisson? Goals are rare, discrete, independent events — exactly the Poisson conditions (Maher, 1982)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1A2E42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ᵢ ~ Poisson(λᵢ)    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log(λᵢ) = β₀ + β₁·xG + β₂·xA + β₃·xG_chain + β₄·opp_xG + β₅·depth + β₆·is_home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3931920" cy="868680"/>
          </a:xfrm>
          <a:prstGeom prst="rect">
            <a:avLst/>
          </a:prstGeom>
          <a:solidFill>
            <a:srgbClr val="1A2E42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560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Scoreline Distribution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P(0-0), P(1-0), P(2-1)... not just Win/Draw/Loss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931920" cy="868680"/>
          </a:xfrm>
          <a:prstGeom prst="rect">
            <a:avLst/>
          </a:prstGeom>
          <a:solidFill>
            <a:srgbClr val="1A2E42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11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by summing scoreline probabilities across all outcomes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514600"/>
            <a:ext cx="3931920" cy="868680"/>
          </a:xfrm>
          <a:prstGeom prst="rect">
            <a:avLst/>
          </a:prstGeom>
          <a:solidFill>
            <a:srgbClr val="1A2E42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5603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2560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CV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time-series validation — train on past, validate on future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66160"/>
            <a:ext cx="3931920" cy="868680"/>
          </a:xfrm>
          <a:prstGeom prst="rect">
            <a:avLst/>
          </a:prstGeom>
          <a:solidFill>
            <a:srgbClr val="1A2E42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6118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Overdispersion Check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Negative Binomial fallback if dispersion ratio &gt; 1.5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609344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 (goals)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54864" cy="100584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097280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1609344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00584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005840"/>
            <a:ext cx="54864" cy="100584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097280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1609344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 MAE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00584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005840"/>
            <a:ext cx="54864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097280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1.229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29400" y="1609344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Ratio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22860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645920"/>
                <a:gridCol w="2194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/ 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 Regression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MAE: 0.892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Poisson model predicts full scoreline distributions — not directly comparable to classifier accuracy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Matchup Predictions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matrix: P(scoreline) computed for every possible 0-0 to 5-5 result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71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1.44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875995" cy="164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26.7%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457200" cy="16459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13716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627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0.95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01168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0574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313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1.57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2103120"/>
            <a:ext cx="936346" cy="164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313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25.3%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76565" y="2103120"/>
            <a:ext cx="418795" cy="16459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313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0574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313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0.95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69748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2743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1.47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06040" y="2788920"/>
            <a:ext cx="841248" cy="164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2999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26.1%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4269" y="2788920"/>
            <a:ext cx="501091" cy="16459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999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27.4%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7432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2999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1.07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38328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34290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3685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1.73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06040" y="3474720"/>
            <a:ext cx="940003" cy="164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23.7%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58277" y="3474720"/>
            <a:ext cx="437083" cy="16459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34290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09360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06908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02920" y="41148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4370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1.55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6040" y="4160520"/>
            <a:ext cx="901598" cy="164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6040" y="4370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49.3%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63440" y="4206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25.5%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145475" y="4160520"/>
            <a:ext cx="449885" cy="16459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4370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9360" y="41148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309360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1.01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Tournament Simulation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full tournament simulations — group stage through the Final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51760" cy="3200400"/>
          </a:xfrm>
          <a:prstGeom prst="rect">
            <a:avLst/>
          </a:prstGeom>
          <a:solidFill>
            <a:srgbClr val="1A2E42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265176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groups × 4 teams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Round-robin, Poisson goal draws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+ 8 best 3rd place advance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6419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3200400"/>
          </a:xfrm>
          <a:prstGeom prst="rect">
            <a:avLst/>
          </a:prstGeom>
          <a:solidFill>
            <a:srgbClr val="1A2E42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371600"/>
            <a:ext cx="265176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Knockout (R32→Final)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4231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elimination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matrix win probabilities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time + penalty logic for draws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6419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651760" cy="3200400"/>
          </a:xfrm>
          <a:prstGeom prst="rect">
            <a:avLst/>
          </a:prstGeom>
          <a:solidFill>
            <a:srgbClr val="1A2E42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Simulations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24231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bracket repeated 500×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counts aggregated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normalized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seed: 42  |  Simulations: 500  |  Bracket: 48 teams, 12 groups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— Predicted Champion Probabilities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500 Monte Carlo simulations using Poisson score matrix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380744"/>
            <a:ext cx="4332849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7409" y="13258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Verde*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819656"/>
            <a:ext cx="4178105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2665" y="17647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2037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03120" y="2258568"/>
            <a:ext cx="3713871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8431" y="22037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Haiti*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2697480"/>
            <a:ext cx="3559126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53686" y="264261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081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3136392"/>
            <a:ext cx="3094892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9452" y="30815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520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Scotland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03120" y="3575304"/>
            <a:ext cx="3094892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9452" y="35204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9593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03120" y="4014216"/>
            <a:ext cx="2940148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4708" y="39593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3982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3120" y="4453128"/>
            <a:ext cx="2785403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9963" y="43982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Cape Verde &amp; Haiti ranked high due to missing squad data — see Limitations slide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Squad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6733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nations with no European league players default to equal probabilities, inflating Cape Verde &amp; Haiti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377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Divergence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6791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Portugal over Spain/France — differs from ELO-based models. Absence of historical team strength (ELO) undervalues dominant nations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3832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Snapshot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85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reflect last season — no injury, suspension, or form adjustments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134416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1353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Fallback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1627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FIFA/ELO ratings for data-sparse nations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075688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2093976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66360" y="2103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Seeding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377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official 2026 seeding rules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825496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284378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2852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Dixon-Coles Fix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low-score correction (Dixon &amp; Coles, 1997)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575304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359359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66360" y="3602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CI/CD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38770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Auto-rerun pipeline + commit figures on push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🏆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108960" y="457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108960" y="1005840"/>
            <a:ext cx="5669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 is statistically significant — β = 0.360, p &lt; 0.001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 and opponent xG are the strongest goal predictors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leads at 5.6% across 500 simulations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CV shows consistent generalization (mean MAE: 0.957)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framework provides richer predictions than classification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3657600"/>
            <a:ext cx="5669280" cy="36576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3794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github.com/Elk-dev/FIFA-2026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41605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Elkin Huertas  |  University of Miami  |  CSC 642/542  |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2026 World Cup Prediction</dc:title>
  <dc:subject>PptxGenJS Presentation</dc:subject>
  <dc:creator>Elkin Huertas</dc:creator>
  <cp:lastModifiedBy>Elkin Huertas</cp:lastModifiedBy>
  <cp:revision>1</cp:revision>
  <dcterms:created xsi:type="dcterms:W3CDTF">2026-04-26T03:13:58Z</dcterms:created>
  <dcterms:modified xsi:type="dcterms:W3CDTF">2026-04-26T03:13:58Z</dcterms:modified>
</cp:coreProperties>
</file>